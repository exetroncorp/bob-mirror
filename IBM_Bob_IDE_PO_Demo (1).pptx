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6938" y="1306413"/>
            <a:ext cx="5523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FFFFF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388793" y="1306413"/>
            <a:ext cx="119375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IDE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1744563"/>
            <a:ext cx="8595360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AI-Powered SDLC Partner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91000" y="2397175"/>
            <a:ext cx="762000" cy="38100"/>
          </a:xfrm>
          <a:prstGeom prst="roundRect">
            <a:avLst>
              <a:gd name="adj" fmla="val 66667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512844" y="2638425"/>
            <a:ext cx="4118312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Understand, Modernize, Generate, Transform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872517" y="3024336"/>
            <a:ext cx="3398966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2800"/>
              </a:spcAft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AI-first IDE with enterprise governance built 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86039" y="3627388"/>
            <a:ext cx="3771773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Overview · June 2026 · 15-Minute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pag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06301"/>
            <a:ext cx="853440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9600" y="934343"/>
            <a:ext cx="507950" cy="38100"/>
          </a:xfrm>
          <a:prstGeom prst="roundRect">
            <a:avLst>
              <a:gd name="adj" fmla="val 66667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2161431"/>
            <a:ext cx="1879550" cy="1589782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96826" y="2399556"/>
            <a:ext cx="207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96826" y="2856756"/>
            <a:ext cx="186632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Bob?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6826" y="3121968"/>
            <a:ext cx="158035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AI-first IDE for the full SDLC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41550" y="2161431"/>
            <a:ext cx="1879550" cy="1589782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828776" y="2399556"/>
            <a:ext cx="207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A56E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828776" y="2856756"/>
            <a:ext cx="195662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1-2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28776" y="3121968"/>
            <a:ext cx="158035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and Modernize code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3501" y="2161431"/>
            <a:ext cx="1879550" cy="1589782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60727" y="2399556"/>
            <a:ext cx="207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860727" y="2856756"/>
            <a:ext cx="195662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3-4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60727" y="3121968"/>
            <a:ext cx="158035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Extensibility and Governance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05451" y="2259211"/>
            <a:ext cx="1879550" cy="1394222"/>
          </a:xfrm>
          <a:prstGeom prst="roundRect">
            <a:avLst>
              <a:gd name="adj" fmla="val 7287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92677" y="2497336"/>
            <a:ext cx="2077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A56E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892677" y="2954536"/>
            <a:ext cx="195662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92677" y="3219748"/>
            <a:ext cx="177601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cases and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6000"/>
            <a:ext cx="2858616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IBM Bob IDE?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1327100"/>
            <a:ext cx="4749745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AI-first IDE, not a bolted-on assistant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738461"/>
            <a:ext cx="4533848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is a fork of VS Code with AI deeply embedded at its core. Purpose-built as an SDLC partner across planning, analysis, design, development, testing, and maintenance phases.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622203"/>
            <a:ext cx="507950" cy="25301"/>
          </a:xfrm>
          <a:prstGeom prst="roundRect">
            <a:avLst>
              <a:gd name="adj" fmla="val 50196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799904"/>
            <a:ext cx="4317950" cy="16157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Multi-model orchestration (Claude, Granite, Mistral)</a:t>
            </a:r>
            <a:endParaRPr lang="en-US" sz="11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Multi-file changes with agent management</a:t>
            </a:r>
            <a:endParaRPr lang="en-US" sz="11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15+ languages: Java, Python, TypeScript, Go, Kotlin...</a:t>
            </a:r>
            <a:endParaRPr lang="en-US" sz="11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governance built-in</a:t>
            </a:r>
            <a:endParaRPr lang="en-US" sz="11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 extension ecosystem compatible</a:t>
            </a:r>
            <a:endParaRPr lang="en-US" sz="11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Shell: AI assistance in your 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81451" y="1429196"/>
            <a:ext cx="3352800" cy="622102"/>
          </a:xfrm>
          <a:prstGeom prst="roundRect">
            <a:avLst>
              <a:gd name="adj" fmla="val 12249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00501" y="1429196"/>
            <a:ext cx="0" cy="622102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7252" y="1556147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 AI Extensions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7252" y="1752898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Copilot, Cline, Roo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81451" y="2152799"/>
            <a:ext cx="3352800" cy="622102"/>
          </a:xfrm>
          <a:prstGeom prst="roundRect">
            <a:avLst>
              <a:gd name="adj" fmla="val 12249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00501" y="2152799"/>
            <a:ext cx="0" cy="622102"/>
          </a:xfrm>
          <a:prstGeom prst="line">
            <a:avLst/>
          </a:prstGeom>
          <a:noFill/>
          <a:ln w="38100">
            <a:solidFill>
              <a:srgbClr val="A56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7252" y="2279749"/>
            <a:ext cx="36695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Prompt-to-App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7252" y="2476500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Bolt, Lovable, V0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81451" y="2876401"/>
            <a:ext cx="3352800" cy="622102"/>
          </a:xfrm>
          <a:prstGeom prst="roundRect">
            <a:avLst>
              <a:gd name="adj" fmla="val 12249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00501" y="2876401"/>
            <a:ext cx="0" cy="622102"/>
          </a:xfrm>
          <a:prstGeom prst="line">
            <a:avLst/>
          </a:prstGeom>
          <a:noFill/>
          <a:ln w="38100">
            <a:solidFill>
              <a:srgbClr val="BEC6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7252" y="3003352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 Engineers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7252" y="3200102"/>
            <a:ext cx="37467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81451" y="3600004"/>
            <a:ext cx="3352800" cy="622102"/>
          </a:xfrm>
          <a:prstGeom prst="roundRect">
            <a:avLst>
              <a:gd name="adj" fmla="val 12249"/>
            </a:avLst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00501" y="3600004"/>
            <a:ext cx="0" cy="62210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7252" y="3726954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 with Native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7252" y="3923705"/>
            <a:ext cx="34919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Bob - Our Category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53901"/>
            <a:ext cx="5218472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1: Understand Your Codebase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673001"/>
            <a:ext cx="507950" cy="25301"/>
          </a:xfrm>
          <a:prstGeom prst="roundRect">
            <a:avLst>
              <a:gd name="adj" fmla="val 50196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850702"/>
            <a:ext cx="7924800" cy="898922"/>
          </a:xfrm>
          <a:prstGeom prst="roundRect">
            <a:avLst>
              <a:gd name="adj" fmla="val 847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6826" y="9871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1005" y="1041053"/>
            <a:ext cx="9776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03127" y="987177"/>
            <a:ext cx="785845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Explanation and Architecture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3127" y="1222028"/>
            <a:ext cx="750125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Bob to explain class hierarchies, dependency flows, configurations, and business logic across your entire codebase in any language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1851124"/>
            <a:ext cx="7924800" cy="703362"/>
          </a:xfrm>
          <a:prstGeom prst="roundRect">
            <a:avLst>
              <a:gd name="adj" fmla="val 1083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96826" y="198760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01005" y="2041475"/>
            <a:ext cx="9776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03127" y="1987600"/>
            <a:ext cx="785845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Diagrams and Dependency Maps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03127" y="2222450"/>
            <a:ext cx="785845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Mermaid flowcharts, UML class diagrams, and cross-service dependency maps for your application landscape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9600" y="2655987"/>
            <a:ext cx="7924800" cy="703362"/>
          </a:xfrm>
          <a:prstGeom prst="roundRect">
            <a:avLst>
              <a:gd name="adj" fmla="val 1083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96826" y="279246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58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01005" y="2846338"/>
            <a:ext cx="9776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03127" y="2792462"/>
            <a:ext cx="785845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Auto-Generated Documentation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03127" y="3027313"/>
            <a:ext cx="7858452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 API docs, README files, and flow descriptions from existing code - accurate and always up-to-date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9600" y="3460849"/>
            <a:ext cx="7924800" cy="417612"/>
          </a:xfrm>
          <a:prstGeom prst="roundRect">
            <a:avLst>
              <a:gd name="adj" fmla="val 18247"/>
            </a:avLst>
          </a:prstGeom>
          <a:solidFill>
            <a:srgbClr val="A56EFF">
              <a:alpha val="12000"/>
            </a:srgbClr>
          </a:solidFill>
          <a:ln w="9525">
            <a:solidFill>
              <a:srgbClr val="A56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6826" y="3571875"/>
            <a:ext cx="830538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D0E2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"The design document created by Bob amazed even experienced engineers" - NI+C, Japan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6000"/>
            <a:ext cx="4575535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2: Modernize and Transform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785068"/>
            <a:ext cx="4444901" cy="750243"/>
          </a:xfrm>
          <a:prstGeom prst="roundRect">
            <a:avLst>
              <a:gd name="adj" fmla="val 10157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785068"/>
            <a:ext cx="0" cy="750243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886569"/>
            <a:ext cx="4512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JEE to Liberty Replatforming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0100" y="1070670"/>
            <a:ext cx="430710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Migrate monolithic JEE apps to modern Liberty runtime with guided analysis and 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1611511"/>
            <a:ext cx="4444901" cy="750243"/>
          </a:xfrm>
          <a:prstGeom prst="roundRect">
            <a:avLst>
              <a:gd name="adj" fmla="val 10157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1611511"/>
            <a:ext cx="0" cy="750243"/>
          </a:xfrm>
          <a:prstGeom prst="line">
            <a:avLst/>
          </a:prstGeom>
          <a:noFill/>
          <a:ln w="38100">
            <a:solidFill>
              <a:srgbClr val="A56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1713012"/>
            <a:ext cx="4512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JEE to Quarkus Migration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" y="1897112"/>
            <a:ext cx="430710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 heavy JEE apps into cloud-native Quarkus microservices with AI-guided refactoring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437954"/>
            <a:ext cx="4444901" cy="750243"/>
          </a:xfrm>
          <a:prstGeom prst="roundRect">
            <a:avLst>
              <a:gd name="adj" fmla="val 10157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2437954"/>
            <a:ext cx="0" cy="750243"/>
          </a:xfrm>
          <a:prstGeom prst="line">
            <a:avLst/>
          </a:prstGeom>
          <a:noFill/>
          <a:ln w="38100">
            <a:solidFill>
              <a:srgbClr val="45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2539454"/>
            <a:ext cx="4512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 Version Upgrades (AMA)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" y="2723555"/>
            <a:ext cx="430710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Analysis, Upgrade, Validation - powered by Automated Migration Advisor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264396"/>
            <a:ext cx="4444901" cy="750243"/>
          </a:xfrm>
          <a:prstGeom prst="roundRect">
            <a:avLst>
              <a:gd name="adj" fmla="val 10157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8650" y="3264396"/>
            <a:ext cx="0" cy="750243"/>
          </a:xfrm>
          <a:prstGeom prst="line">
            <a:avLst/>
          </a:prstGeom>
          <a:noFill/>
          <a:ln w="3810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" y="3365897"/>
            <a:ext cx="4512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Frontend Modernization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" y="3549997"/>
            <a:ext cx="430710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Struts/JSF to React, modernize legacy UIs to web-based interfaces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090839"/>
            <a:ext cx="4444901" cy="750243"/>
          </a:xfrm>
          <a:prstGeom prst="roundRect">
            <a:avLst>
              <a:gd name="adj" fmla="val 10157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650" y="4090839"/>
            <a:ext cx="0" cy="750243"/>
          </a:xfrm>
          <a:prstGeom prst="line">
            <a:avLst/>
          </a:prstGeom>
          <a:noFill/>
          <a:ln w="38100">
            <a:solidFill>
              <a:srgbClr val="42BE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4192339"/>
            <a:ext cx="451220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i Modernization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" y="4376440"/>
            <a:ext cx="430710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RPG to Free, DDS to SQL DDL, RLA to SQL, 5250 to web UI - specialized add-on pack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2202" y="1316385"/>
            <a:ext cx="3225701" cy="966043"/>
          </a:xfrm>
          <a:prstGeom prst="roundRect">
            <a:avLst>
              <a:gd name="adj" fmla="val 10517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112" y="1465511"/>
            <a:ext cx="4039880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8141" y="1770162"/>
            <a:ext cx="307382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Built-in Modes: Ask, Plan, Code, Orchestrator, Advanced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2202" y="2383929"/>
            <a:ext cx="3225701" cy="966043"/>
          </a:xfrm>
          <a:prstGeom prst="roundRect">
            <a:avLst>
              <a:gd name="adj" fmla="val 10517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5112" y="2533055"/>
            <a:ext cx="4039880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A56E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08141" y="2837706"/>
            <a:ext cx="307382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Languages: Java, Python, TypeScript, Go, Kotlin, COBOL, RPG...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2202" y="3451473"/>
            <a:ext cx="3225701" cy="858143"/>
          </a:xfrm>
          <a:prstGeom prst="roundRect">
            <a:avLst>
              <a:gd name="adj" fmla="val 11840"/>
            </a:avLst>
          </a:prstGeom>
          <a:solidFill>
            <a:srgbClr val="ECF1F8"/>
          </a:solidFill>
          <a:ln w="9525">
            <a:solidFill>
              <a:srgbClr val="DCE2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17857" y="3600599"/>
            <a:ext cx="34543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Modernization Packs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8141" y="3797350"/>
            <a:ext cx="307382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and IBM i Modernization available as premium add-ons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26371" y="1867644"/>
            <a:ext cx="198337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spc="400" kern="0" dirty="0">
                <a:solidFill>
                  <a:srgbClr val="FF6B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EXTENSIBILITY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74320" y="2166045"/>
            <a:ext cx="8595211" cy="52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Modes, Skills, Commands and MCP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267200" y="2806154"/>
            <a:ext cx="609600" cy="25301"/>
          </a:xfrm>
          <a:prstGeom prst="roundRect">
            <a:avLst>
              <a:gd name="adj" fmla="val 50196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12851" y="3009156"/>
            <a:ext cx="411814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 Bob to your team, your stack, your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6000"/>
            <a:ext cx="5773415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Modes System - Adapt Bob to Your Role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1525786"/>
            <a:ext cx="453384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Modes define Bob's role and control which tools it can access. Each mode is a purpose-built persona for different development scenarios.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2018407"/>
            <a:ext cx="330101" cy="330101"/>
          </a:xfrm>
          <a:prstGeom prst="roundRect">
            <a:avLst>
              <a:gd name="adj" fmla="val 1923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365" y="2092970"/>
            <a:ext cx="120149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202" y="2018407"/>
            <a:ext cx="474134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1202" y="2202507"/>
            <a:ext cx="427498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answers about your codebase. Read-only, no file changes.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479"/>
            <a:ext cx="330101" cy="330101"/>
          </a:xfrm>
          <a:prstGeom prst="roundRect">
            <a:avLst>
              <a:gd name="adj" fmla="val 19237"/>
            </a:avLst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4020" y="2522041"/>
            <a:ext cx="105445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202" y="2447479"/>
            <a:ext cx="474134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1202" y="2631579"/>
            <a:ext cx="427498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and design before implementation. No execution.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2876550"/>
            <a:ext cx="330101" cy="330101"/>
          </a:xfrm>
          <a:prstGeom prst="roundRect">
            <a:avLst>
              <a:gd name="adj" fmla="val 19237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4318" y="2951113"/>
            <a:ext cx="104864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202" y="2876550"/>
            <a:ext cx="474134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Mode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1202" y="3060650"/>
            <a:ext cx="427498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Write, modify, and refactor code with full file access.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3305621"/>
            <a:ext cx="330101" cy="330101"/>
          </a:xfrm>
          <a:prstGeom prst="roundRect">
            <a:avLst>
              <a:gd name="adj" fmla="val 19237"/>
            </a:avLst>
          </a:prstGeom>
          <a:solidFill>
            <a:srgbClr val="458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007" y="3380184"/>
            <a:ext cx="134079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1202" y="3305621"/>
            <a:ext cx="42749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Orchestrator 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1202" y="3489722"/>
            <a:ext cx="427498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Coordinate complex multi-step projects across specialties.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734693"/>
            <a:ext cx="330101" cy="330101"/>
          </a:xfrm>
          <a:prstGeom prst="roundRect">
            <a:avLst>
              <a:gd name="adj" fmla="val 19237"/>
            </a:avLst>
          </a:prstGeom>
          <a:solidFill>
            <a:srgbClr val="8D8D8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2681" y="3809256"/>
            <a:ext cx="109121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1202" y="3734693"/>
            <a:ext cx="45081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1202" y="3918793"/>
            <a:ext cx="427498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Extended capabilities for complex tasks without guardrails.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5251" y="1386632"/>
            <a:ext cx="3352800" cy="2216795"/>
          </a:xfrm>
          <a:prstGeom prst="roundRect">
            <a:avLst>
              <a:gd name="adj" fmla="val 4583"/>
            </a:avLst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57651" y="1539032"/>
            <a:ext cx="35356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Modes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651" y="1811982"/>
            <a:ext cx="320040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Fully customizable role prompts and tool access for your team.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651" y="2238524"/>
            <a:ext cx="3352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 Custom Modes: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651" y="2435275"/>
            <a:ext cx="3048000" cy="107669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Modernization Specialist</a:t>
            </a:r>
            <a:endParaRPr lang="en-US" sz="1100" dirty="0"/>
          </a:p>
          <a:p>
            <a:pPr algn="l" marL="88900" indent="-88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Reviewer</a:t>
            </a:r>
            <a:endParaRPr lang="en-US" sz="1100" dirty="0"/>
          </a:p>
          <a:p>
            <a:pPr algn="l" marL="88900" indent="-88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 Writer</a:t>
            </a:r>
            <a:endParaRPr lang="en-US" sz="1100" dirty="0"/>
          </a:p>
          <a:p>
            <a:pPr algn="l" marL="88900" indent="-88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DevOps Engineer</a:t>
            </a:r>
            <a:endParaRPr lang="en-US" sz="1100" dirty="0"/>
          </a:p>
          <a:p>
            <a:pPr algn="l" marL="88900" indent="-88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Tester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5251" y="3679627"/>
            <a:ext cx="3352800" cy="559891"/>
          </a:xfrm>
          <a:prstGeom prst="roundRect">
            <a:avLst>
              <a:gd name="adj" fmla="val 11341"/>
            </a:avLst>
          </a:prstGeom>
          <a:solidFill>
            <a:srgbClr val="ECF1F8"/>
          </a:solidFill>
          <a:ln w="9525">
            <a:solidFill>
              <a:srgbClr val="DCE2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41727" y="3778002"/>
            <a:ext cx="323384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Be specific. "Create a sortable table component" beats "Make me a table."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28451"/>
            <a:ext cx="520526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3: Skills, Commands and MCP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9600" y="634752"/>
            <a:ext cx="507950" cy="25301"/>
          </a:xfrm>
          <a:prstGeom prst="roundRect">
            <a:avLst>
              <a:gd name="adj" fmla="val 50196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787003"/>
            <a:ext cx="2539901" cy="2191643"/>
          </a:xfrm>
          <a:prstGeom prst="roundRect">
            <a:avLst>
              <a:gd name="adj" fmla="val 4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8726" y="948928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7434" y="1021854"/>
            <a:ext cx="10157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726" y="1367879"/>
            <a:ext cx="29141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726" y="1628180"/>
            <a:ext cx="235373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task definitions that extend Bob for specific workflows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726" y="2054721"/>
            <a:ext cx="2241649" cy="80772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Modernization skill packs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workflow skills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via Marketplace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Community and IBM-published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01901" y="787003"/>
            <a:ext cx="2539901" cy="2191643"/>
          </a:xfrm>
          <a:prstGeom prst="roundRect">
            <a:avLst>
              <a:gd name="adj" fmla="val 4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51027" y="948928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85121" y="1021854"/>
            <a:ext cx="11357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51027" y="1367879"/>
            <a:ext cx="29141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51027" y="1628180"/>
            <a:ext cx="235373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Slash commands in chat that trigger specific actions and workflows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51027" y="2054721"/>
            <a:ext cx="2241649" cy="80772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Slash commands in chat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review commands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 message generation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94202" y="787003"/>
            <a:ext cx="2539901" cy="2191643"/>
          </a:xfrm>
          <a:prstGeom prst="roundRect">
            <a:avLst>
              <a:gd name="adj" fmla="val 4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43327" y="948928"/>
            <a:ext cx="355550" cy="355550"/>
          </a:xfrm>
          <a:prstGeom prst="roundRect">
            <a:avLst>
              <a:gd name="adj" fmla="val 17860"/>
            </a:avLst>
          </a:prstGeom>
          <a:solidFill>
            <a:srgbClr val="458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48846" y="1021854"/>
            <a:ext cx="18767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43327" y="1367879"/>
            <a:ext cx="2779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Protocol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43327" y="1628180"/>
            <a:ext cx="2353732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Context Protocol: connect Bob to external tools and services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3327" y="2054721"/>
            <a:ext cx="2241649" cy="80772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enterprise tools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builds and tests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and remote transports</a:t>
            </a:r>
            <a:endParaRPr lang="en-US" sz="1100" dirty="0"/>
          </a:p>
          <a:p>
            <a:pPr algn="l" marL="76200" indent="-762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custom MCP servers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pag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46000"/>
            <a:ext cx="4597487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4: Governance and Analytics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600" y="901452"/>
            <a:ext cx="4317950" cy="750243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28650" y="901452"/>
            <a:ext cx="0" cy="750243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7301" y="1002953"/>
            <a:ext cx="44007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 Gating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7301" y="1187053"/>
            <a:ext cx="420068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change requires human approval. Auto-approval configurable per mode and per action type.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9600" y="1715095"/>
            <a:ext cx="4317950" cy="750243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8650" y="1715095"/>
            <a:ext cx="0" cy="750243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7301" y="1816596"/>
            <a:ext cx="44007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Shift-Left Security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7301" y="2000696"/>
            <a:ext cx="420068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security feedback inline. Credential leak prevention. Security guidelines enforcement.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9600" y="2528739"/>
            <a:ext cx="4317950" cy="750243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28650" y="2528739"/>
            <a:ext cx="0" cy="750243"/>
          </a:xfrm>
          <a:prstGeom prst="line">
            <a:avLst/>
          </a:prstGeom>
          <a:noFill/>
          <a:ln w="38100">
            <a:solidFill>
              <a:srgbClr val="A56E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301" y="2630239"/>
            <a:ext cx="44007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Trails and Checkpoints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7301" y="2814340"/>
            <a:ext cx="420068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auditability: every action logged, every change traceable. Rollback via checkpoints.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9600" y="3342382"/>
            <a:ext cx="4317950" cy="568672"/>
          </a:xfrm>
          <a:prstGeom prst="roundRect">
            <a:avLst>
              <a:gd name="adj" fmla="val 1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28650" y="3342382"/>
            <a:ext cx="0" cy="568672"/>
          </a:xfrm>
          <a:prstGeom prst="line">
            <a:avLst/>
          </a:prstGeom>
          <a:noFill/>
          <a:ln w="38100">
            <a:solidFill>
              <a:srgbClr val="8D8D8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7301" y="3443883"/>
            <a:ext cx="44007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Rules and .bobignore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7301" y="3627983"/>
            <a:ext cx="440071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and project-level rules. Exclude sensitive files from AI analysis.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9600" y="3974455"/>
            <a:ext cx="4317950" cy="750243"/>
          </a:xfrm>
          <a:prstGeom prst="roundRect">
            <a:avLst>
              <a:gd name="adj" fmla="val 8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628650" y="3974455"/>
            <a:ext cx="0" cy="750243"/>
          </a:xfrm>
          <a:prstGeom prst="line">
            <a:avLst/>
          </a:prstGeom>
          <a:noFill/>
          <a:ln w="38100">
            <a:solidFill>
              <a:srgbClr val="42BE6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7301" y="4075956"/>
            <a:ext cx="44007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Management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7301" y="4260056"/>
            <a:ext cx="4200681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window management, context poisoning prevention, and large project optimization.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05251" y="1628031"/>
            <a:ext cx="3352800" cy="1733996"/>
          </a:xfrm>
          <a:prstGeom prst="roundRect">
            <a:avLst>
              <a:gd name="adj" fmla="val 5859"/>
            </a:avLst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44852" y="1780431"/>
            <a:ext cx="3380958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Bobalytics Dashboard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44852" y="2012156"/>
            <a:ext cx="338095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optimization and cost tracking.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44852" y="2257127"/>
            <a:ext cx="3073598" cy="10096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model routing</a:t>
            </a:r>
            <a:endParaRPr lang="en-US" sz="11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efficiency optimization</a:t>
            </a:r>
            <a:endParaRPr lang="en-US" sz="11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outcome analytics</a:t>
            </a:r>
            <a:endParaRPr lang="en-US" sz="11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Bobcoin consumption monitoring</a:t>
            </a:r>
            <a:endParaRPr lang="en-US" sz="1100" dirty="0"/>
          </a:p>
          <a:p>
            <a:pPr algn="l" marL="88900" indent="-88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productivity insights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05251" y="3438227"/>
            <a:ext cx="3352800" cy="559891"/>
          </a:xfrm>
          <a:prstGeom prst="roundRect">
            <a:avLst>
              <a:gd name="adj" fmla="val 11341"/>
            </a:avLst>
          </a:prstGeom>
          <a:solidFill>
            <a:srgbClr val="E8DAFF"/>
          </a:solidFill>
          <a:ln w="9525">
            <a:solidFill>
              <a:srgbClr val="D0E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4377" y="3536603"/>
            <a:ext cx="32072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8A3F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Enterprise: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SSO/SAML, dedicated support, custom model hosting.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6000"/>
            <a:ext cx="1938535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Use Cases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736550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736550"/>
            <a:ext cx="0" cy="788491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850850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Understanding and Knowledge Transfer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0100" y="1047601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team members grasp systems in hours. Repo-wide understanding replaces tribal knowledge across all languages.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8200" y="736550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0" y="736550"/>
            <a:ext cx="0" cy="788491"/>
          </a:xfrm>
          <a:prstGeom prst="line">
            <a:avLst/>
          </a:prstGeom>
          <a:noFill/>
          <a:ln w="38100">
            <a:solidFill>
              <a:srgbClr val="A56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8700" y="850850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Modernization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8700" y="1047601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JEE to Liberty/Quarkus, Struts to React, RPG to Free, COBOL refactoring. Guided analysis, upgrade, and validation.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1601242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1601242"/>
            <a:ext cx="0" cy="788491"/>
          </a:xfrm>
          <a:prstGeom prst="line">
            <a:avLst/>
          </a:prstGeom>
          <a:noFill/>
          <a:ln w="38100">
            <a:solidFill>
              <a:srgbClr val="458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1715542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Development and Compliance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" y="1912293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 issues while code is written. Prevent credential leaks. Enforce standards with shift-left security.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8200" y="1601242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601242"/>
            <a:ext cx="0" cy="788491"/>
          </a:xfrm>
          <a:prstGeom prst="line">
            <a:avLst/>
          </a:prstGeom>
          <a:noFill/>
          <a:ln w="3810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1715542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 Multi-System Changes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8700" y="1912293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Coordinate change across entire codebases. Multi-agent orchestration for cross-system refactoring.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2465933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650" y="2465933"/>
            <a:ext cx="0" cy="788491"/>
          </a:xfrm>
          <a:prstGeom prst="line">
            <a:avLst/>
          </a:prstGeom>
          <a:noFill/>
          <a:ln w="38100">
            <a:solidFill>
              <a:srgbClr val="42BE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2580233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Generation and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" y="2776984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Context-aware generation in any language. Auto-generate unit tests, commit messages, and code reviews.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8200" y="2465933"/>
            <a:ext cx="3886200" cy="788491"/>
          </a:xfrm>
          <a:prstGeom prst="roundRect">
            <a:avLst>
              <a:gd name="adj" fmla="val 9664"/>
            </a:avLst>
          </a:prstGeom>
          <a:solidFill>
            <a:srgbClr val="ECF1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2465933"/>
            <a:ext cx="0" cy="78849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700" y="2580233"/>
            <a:ext cx="389763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 and Literate Coding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8700" y="2776984"/>
            <a:ext cx="3720465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and update docs from code. API documentation always in sync with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pag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F6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46000"/>
            <a:ext cx="4257229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Marketplace and Ecosystem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600" y="1263848"/>
            <a:ext cx="4317950" cy="1104007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412974"/>
            <a:ext cx="4393510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Marketplace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1525" y="1632049"/>
            <a:ext cx="4193805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and download custom modes, skills, and workflow packs. Enterprise-safe customization with community and IBM-published content.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600" y="2469356"/>
            <a:ext cx="4317950" cy="908447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525" y="2618482"/>
            <a:ext cx="4393510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Predefined Workflows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1525" y="2837557"/>
            <a:ext cx="419380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Modernization workflows at GA. Custom workflows creatable and shareable. Automate repetitive tasks and boilerplate.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3479304"/>
            <a:ext cx="4317950" cy="908447"/>
          </a:xfrm>
          <a:prstGeom prst="roundRect">
            <a:avLst>
              <a:gd name="adj" fmla="val 9786"/>
            </a:avLst>
          </a:prstGeom>
          <a:solidFill>
            <a:srgbClr val="FFFFFF"/>
          </a:solidFill>
          <a:ln w="9525">
            <a:solidFill>
              <a:srgbClr val="DCE2EF"/>
            </a:solidFill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1525" y="3628430"/>
            <a:ext cx="487280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 Shell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1525" y="3847505"/>
            <a:ext cx="419380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 and terminal version - same AI assistance with full conversation context in your shell.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05251" y="1096417"/>
            <a:ext cx="3352800" cy="807541"/>
          </a:xfrm>
          <a:prstGeom prst="roundRect">
            <a:avLst>
              <a:gd name="adj" fmla="val 7863"/>
            </a:avLst>
          </a:prstGeom>
          <a:solidFill>
            <a:srgbClr val="ECF1F8"/>
          </a:solidFill>
          <a:ln w="9525">
            <a:solidFill>
              <a:srgbClr val="DCE2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54377" y="1220242"/>
            <a:ext cx="33600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Adoption Journey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54377" y="1416993"/>
            <a:ext cx="32072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and Play (1 day) &gt; Adopt (30 days) &gt; Accelerate (90 days) &gt; Scale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05251" y="1980158"/>
            <a:ext cx="3352800" cy="807541"/>
          </a:xfrm>
          <a:prstGeom prst="roundRect">
            <a:avLst>
              <a:gd name="adj" fmla="val 7863"/>
            </a:avLst>
          </a:prstGeom>
          <a:solidFill>
            <a:srgbClr val="ECF1F8"/>
          </a:solidFill>
          <a:ln w="9525">
            <a:solidFill>
              <a:srgbClr val="DCE2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54377" y="2103983"/>
            <a:ext cx="33600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 Compatible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54377" y="2300734"/>
            <a:ext cx="32072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Fork of VS Code - inherits the extension ecosystem and familiar UX.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05251" y="2863900"/>
            <a:ext cx="3352800" cy="807541"/>
          </a:xfrm>
          <a:prstGeom prst="roundRect">
            <a:avLst>
              <a:gd name="adj" fmla="val 7863"/>
            </a:avLst>
          </a:prstGeom>
          <a:solidFill>
            <a:srgbClr val="ECF1F8"/>
          </a:solidFill>
          <a:ln w="9525">
            <a:solidFill>
              <a:srgbClr val="DCE2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54377" y="2987725"/>
            <a:ext cx="354327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Powerful Tools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54377" y="3184475"/>
            <a:ext cx="32072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 read/write, run commands, extend via MCP - seamlessly integrated.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05251" y="3747641"/>
            <a:ext cx="3352800" cy="807541"/>
          </a:xfrm>
          <a:prstGeom prst="roundRect">
            <a:avLst>
              <a:gd name="adj" fmla="val 7863"/>
            </a:avLst>
          </a:prstGeom>
          <a:solidFill>
            <a:srgbClr val="E8DAFF"/>
          </a:solidFill>
          <a:ln w="9525">
            <a:solidFill>
              <a:srgbClr val="D0E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54377" y="3871466"/>
            <a:ext cx="33600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A3F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Actions and Next Edit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54377" y="4068217"/>
            <a:ext cx="32072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155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Inline code actions, next-edit predictions, code reviews - all built 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bob-slides-v2/gradient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08450" y="95086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74320" y="1280964"/>
            <a:ext cx="859521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267200" y="1865114"/>
            <a:ext cx="609600" cy="25301"/>
          </a:xfrm>
          <a:prstGeom prst="roundRect">
            <a:avLst>
              <a:gd name="adj" fmla="val 50196"/>
            </a:avLst>
          </a:prstGeom>
          <a:solidFill>
            <a:srgbClr val="A56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65299" y="2144316"/>
            <a:ext cx="2286000" cy="1483221"/>
          </a:xfrm>
          <a:prstGeom prst="roundRect">
            <a:avLst>
              <a:gd name="adj" fmla="val 685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9331" y="2382441"/>
            <a:ext cx="2637937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23139" y="2737991"/>
            <a:ext cx="23703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Free Trial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04736" y="2998291"/>
            <a:ext cx="200712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all features with a free trial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29000" y="2144316"/>
            <a:ext cx="2286000" cy="1483221"/>
          </a:xfrm>
          <a:prstGeom prst="roundRect">
            <a:avLst>
              <a:gd name="adj" fmla="val 685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253032" y="2382441"/>
            <a:ext cx="2637937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56E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86840" y="2737991"/>
            <a:ext cx="23703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Docs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44186" y="2998291"/>
            <a:ext cx="2255627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bob.ibm.com/docs/ide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2701" y="2144316"/>
            <a:ext cx="2286000" cy="1483221"/>
          </a:xfrm>
          <a:prstGeom prst="roundRect">
            <a:avLst>
              <a:gd name="adj" fmla="val 685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6732" y="2382441"/>
            <a:ext cx="2637937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4589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07887" y="2737991"/>
            <a:ext cx="225562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 Deep-Dive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32138" y="2998291"/>
            <a:ext cx="200712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 with your own codebase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42283" y="3983087"/>
            <a:ext cx="2207047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2800"/>
              </a:spcBef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 Let's discuss!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Bob IDE - AI-Powered SDLC Partner</dc:title>
  <dc:subject>PptxGenJS Presentation</dc:subject>
  <dc:creator>IBM Bob IDE Team</dc:creator>
  <cp:lastModifiedBy>IBM Bob IDE Team</cp:lastModifiedBy>
  <cp:revision>1</cp:revision>
  <dcterms:created xsi:type="dcterms:W3CDTF">2026-06-07T09:48:43Z</dcterms:created>
  <dcterms:modified xsi:type="dcterms:W3CDTF">2026-06-07T09:48:43Z</dcterms:modified>
</cp:coreProperties>
</file>